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4"/>
  </p:sldMasterIdLst>
  <p:sldIdLst>
    <p:sldId id="257" r:id="rId5"/>
    <p:sldId id="258" r:id="rId6"/>
    <p:sldId id="262" r:id="rId7"/>
    <p:sldId id="259" r:id="rId8"/>
    <p:sldId id="260" r:id="rId9"/>
    <p:sldId id="256" r:id="rId10"/>
    <p:sldId id="261" r:id="rId11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5A0AB-9E51-488C-9EEA-13466935E429}" v="21" dt="2025-11-10T11:05:00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8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5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2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6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3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4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0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8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4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242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82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5650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94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3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2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0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61C2-8F30-17D0-C87B-E6DB3A2A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16477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Improving Energy Demand Forecasting for Better Procurement &amp; Grid Efficiency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D7E4-5B55-A44C-56D7-BDCA4A67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18" y="1690689"/>
            <a:ext cx="10515600" cy="3879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company faced </a:t>
            </a:r>
            <a:r>
              <a:rPr lang="en-US" sz="1800" b="1" dirty="0"/>
              <a:t>unpredictable load fluctuations</a:t>
            </a:r>
            <a:r>
              <a:rPr lang="en-US" sz="1800" dirty="0"/>
              <a:t> across regions, leading to:</a:t>
            </a:r>
          </a:p>
          <a:p>
            <a:pPr fontAlgn="base"/>
            <a:r>
              <a:rPr lang="en-US" sz="1800" dirty="0"/>
              <a:t>Higher peak procurement costs</a:t>
            </a:r>
          </a:p>
          <a:p>
            <a:pPr fontAlgn="base"/>
            <a:r>
              <a:rPr lang="en-US" sz="1800" dirty="0"/>
              <a:t>Energy supply-demand imbalance</a:t>
            </a:r>
          </a:p>
          <a:p>
            <a:pPr fontAlgn="base"/>
            <a:r>
              <a:rPr lang="en-US" sz="1800" dirty="0"/>
              <a:t>Billing mismatches (supplied vs billed energy)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Objective:</a:t>
            </a:r>
            <a:endParaRPr lang="en-US" sz="1800" dirty="0"/>
          </a:p>
          <a:p>
            <a:r>
              <a:rPr lang="en-US" sz="1800" dirty="0"/>
              <a:t>Develop a </a:t>
            </a:r>
            <a:r>
              <a:rPr lang="en-US" sz="1800" b="1" dirty="0"/>
              <a:t>data-driven forecasting system</a:t>
            </a:r>
            <a:r>
              <a:rPr lang="en-US" sz="1800" dirty="0"/>
              <a:t> to accurately predict daily and short-term energy demand, reduce wastage, and improve billing efficiency.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Data used:3 years of smart meter data (2021–2023) from 5 metro cities.</a:t>
            </a:r>
          </a:p>
        </p:txBody>
      </p:sp>
    </p:spTree>
    <p:extLst>
      <p:ext uri="{BB962C8B-B14F-4D97-AF65-F5344CB8AC3E}">
        <p14:creationId xmlns:p14="http://schemas.microsoft.com/office/powerpoint/2010/main" val="81452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A0AD-F473-8A01-C004-73755CB3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36" y="8313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Deep Learning Approach: LSTM for Energy Load Forecasting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2A1986-33DC-833E-00C8-FDAF4683B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8458" y="1457226"/>
            <a:ext cx="908801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LSTM?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struggle with complex, nonlinear patterns in energy demand (e.g., weekends, weather effects, random surges).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networks can learn long-term dependencies and time-based fluctuations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Overview: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Aggregation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Converted raw readings to daily total consumption per 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Filled missing values, normalized data, created 30-day lookback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LSTM(64) → Dropout(0.2) → Dense(16) → Output(1)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Adam, Loss: MSE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MAE, RMSE, MAPE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187BD-DFD7-5941-0BCA-F5875A8B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66" y="4585732"/>
            <a:ext cx="6497745" cy="163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4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2530-BEF1-369D-604B-7ADF6D36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6245"/>
          </a:xfrm>
        </p:spPr>
        <p:txBody>
          <a:bodyPr/>
          <a:lstStyle/>
          <a:p>
            <a:r>
              <a:rPr lang="en-IN" b="1" dirty="0"/>
              <a:t>Model Workflow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F47CEB-0628-B152-9AA6-E2D5500D3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23307" y="1268963"/>
            <a:ext cx="12143558" cy="4702629"/>
          </a:xfrm>
        </p:spPr>
      </p:pic>
    </p:spTree>
    <p:extLst>
      <p:ext uri="{BB962C8B-B14F-4D97-AF65-F5344CB8AC3E}">
        <p14:creationId xmlns:p14="http://schemas.microsoft.com/office/powerpoint/2010/main" val="177653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6459-F60B-D6CA-D675-BD51E09D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Forecasting Results &amp;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B601C-B51E-6961-AE10-AB3D4A7D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147665"/>
            <a:ext cx="10515600" cy="4828007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Pattern Insights:</a:t>
            </a:r>
            <a:endParaRPr lang="en-US" sz="1400" dirty="0"/>
          </a:p>
          <a:p>
            <a:r>
              <a:rPr lang="en-US" sz="1400" dirty="0"/>
              <a:t>Energy consumption exhibits a strong </a:t>
            </a:r>
            <a:r>
              <a:rPr lang="en-US" sz="1400" b="1" dirty="0"/>
              <a:t>weekly pattern</a:t>
            </a:r>
            <a:r>
              <a:rPr lang="en-US" sz="1400" dirty="0"/>
              <a:t> (lower on weekends).</a:t>
            </a:r>
          </a:p>
          <a:p>
            <a:r>
              <a:rPr lang="en-US" sz="1400" dirty="0"/>
              <a:t>Clear </a:t>
            </a:r>
            <a:r>
              <a:rPr lang="en-US" sz="1400" b="1" dirty="0"/>
              <a:t>seasonal peaks during summer months</a:t>
            </a:r>
            <a:r>
              <a:rPr lang="en-US" sz="1400" dirty="0"/>
              <a:t> (April–June) and  dips during Feb.</a:t>
            </a:r>
          </a:p>
          <a:p>
            <a:r>
              <a:rPr lang="en-US" sz="1400" b="1" dirty="0"/>
              <a:t>Stable growth trend</a:t>
            </a:r>
            <a:r>
              <a:rPr lang="en-US" sz="1400" dirty="0"/>
              <a:t> from 2021 → 2023.</a:t>
            </a:r>
          </a:p>
          <a:p>
            <a:r>
              <a:rPr lang="en-US" sz="1400" dirty="0"/>
              <a:t>Gap between Supplied energy and billed energy(Potential area of lowering cost).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D13831-DCD9-5B5F-FB9C-71DCD138F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780473"/>
              </p:ext>
            </p:extLst>
          </p:nvPr>
        </p:nvGraphicFramePr>
        <p:xfrm>
          <a:off x="250372" y="2875117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9433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20262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12.783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59260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A70D20-03F5-8D3D-A71A-669A107B7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211027"/>
              </p:ext>
            </p:extLst>
          </p:nvPr>
        </p:nvGraphicFramePr>
        <p:xfrm>
          <a:off x="250372" y="3133409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674196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42554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16.324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26856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0EA315-7406-21D2-F8FF-85A5B0C28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590802"/>
              </p:ext>
            </p:extLst>
          </p:nvPr>
        </p:nvGraphicFramePr>
        <p:xfrm>
          <a:off x="250372" y="3205255"/>
          <a:ext cx="10515600" cy="740638"/>
        </p:xfrm>
        <a:graphic>
          <a:graphicData uri="http://schemas.openxmlformats.org/drawingml/2006/table">
            <a:tbl>
              <a:tblPr/>
              <a:tblGrid>
                <a:gridCol w="5180045">
                  <a:extLst>
                    <a:ext uri="{9D8B030D-6E8A-4147-A177-3AD203B41FA5}">
                      <a16:colId xmlns:a16="http://schemas.microsoft.com/office/drawing/2014/main" val="2779206196"/>
                    </a:ext>
                  </a:extLst>
                </a:gridCol>
                <a:gridCol w="5335555">
                  <a:extLst>
                    <a:ext uri="{9D8B030D-6E8A-4147-A177-3AD203B41FA5}">
                      <a16:colId xmlns:a16="http://schemas.microsoft.com/office/drawing/2014/main" val="2160551528"/>
                    </a:ext>
                  </a:extLst>
                </a:gridCol>
              </a:tblGrid>
              <a:tr h="740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59.13%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40538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D03D3BA-CDC7-AADE-5B77-B538E4E3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2" y="3757461"/>
            <a:ext cx="9406812" cy="28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1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61DE-CDEE-553D-7945-DCCB776E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02" y="28115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Translating Forecast Accuracy into Operational Advantage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F2FE93-FC31-BCFE-8E85-F77E4B6410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302" y="2112727"/>
            <a:ext cx="1121593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Procurement Optimization: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Forecasts enable proactive energy purchase planning, avoiding excess procurement.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5–8% cost 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energy procurement.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short-term visibility reduces overload risk and ensures steady supply.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 scheduling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load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Enhancement: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Forecasted demand helps align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billed with energy supplied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minimizing leakage and improving billing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11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336007"/>
            <a:ext cx="12192000" cy="67129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2000" b="1" dirty="0">
                <a:solidFill>
                  <a:srgbClr val="000000"/>
                </a:solidFill>
                <a:highlight>
                  <a:srgbClr val="FFFF00"/>
                </a:highlight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Comprehensive Dashboard</a:t>
            </a:r>
            <a:endParaRPr lang="en-IE" sz="2000" b="1" dirty="0">
              <a:effectLst/>
              <a:highlight>
                <a:srgbClr val="FFFF00"/>
              </a:highlight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8BF6-213C-215D-5114-A88AA309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Steps: Operationalizing the Forecasting System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BD4A93-4D61-9B20-3E4B-2F6C432D63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83567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 (0–3 Months):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trained LSTM model in production for daily forecast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output with Superset dashboard and alert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Term (3–6 Months):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model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and temperature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boost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anomaly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(flag unexpected consumption spikes).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Term (6–12 Months):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forecasting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granularity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demand-response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model insights to inform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pricing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balancing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52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webextension1.xml><?xml version="1.0" encoding="utf-8"?>
<we:webextension xmlns:we="http://schemas.microsoft.com/office/webextensions/webextension/2010/11" id="{9fa3d6c2-571b-4f46-93d6-e3685b8a0f5c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83134ce-d612-4151-bec5-e145613396c0/17320e880a6f19995608?bookmarkGuid=9313a328-7fd9-4e93-958d-a5511ee4662f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10T06:06:15.270Z&quot;"/>
    <we:property name="creatorSessionId" value="&quot;8fee4bd3-a504-43a4-b1f3-cb8e4f44f16e&quot;"/>
    <we:property name="creatorUserId" value="&quot;10032005017FDF44&quot;"/>
    <we:property name="creatorTenantId" value="&quot;30ec14df-cc5f-4651-a117-7622565c4a6c&quot;"/>
    <we:property name="pageDisplayName" value="&quot;Page 1&quot;"/>
    <we:property name="pageName" value="&quot;17320e880a6f19995608&quot;"/>
    <we:property name="reportName" value="&quot;Smart Meter Data Dashboard&quot;"/>
    <we:property name="isVisualContainerHeaderHidden" value="false"/>
    <we:property name="isFiltersActionButtonVisible" value="true"/>
    <we:property name="initialStateBookmark" value="&quot;H4sIAAAAAAAAA+1a227bOBD9lYLPRkHdpbylbhYLtGmzSRHsYhEYQ2nksKElgaLcaoP8+w4lOXVSt2mz6yKxZT/InBlwLjpzeIGvWSbrSkH7DhbIDtirsrxagL564bAJKwbZ+/dvjg9P38zeHR4fkbisjCyLmh1cMwN6juZc1g0oOwMJ/76YMFDqBOZ2lIOqccIq1HVZgJL/YG9MKqMbvJkw/FypUoOd8syAQTvtksxpTL6dlx55hNTIJZ5hagZp5Lkc45hDmDtJkgQhj8ms7g26yDaa2Kk799OyMCALcmNlrptE3IsjP/HIMA5cj6dWnktlBhPRHn2uNGVHObeVrcphtoQixYx1KWis+4iv2eF8rnEOZhge3VFOS9UsNsjPykaneIp5pyqMNC35qOlVmNkCKYpZBgbYDRXsRJdUzk6fgVTtLKWUm0X3UmaqhKyz+q0phmpxO7wsP001UnkzK5g8nMXvEjXo9LJ9i0tUXwd8q/9atQrwHLTs32uX3H9KeoDn7ZTsXh0MGkkW1nQtMvaaFC++CKx6yIdU/fhuZS5IUstirgacfoHMh75gV5W0LSA+EtYsMm7sHDmPgCfcR4KZ76SuCEJndwDkjADaNoBiD9w8DCL0Qi8SSRJCmOwOgPwRQFtnoIzWLJH5XpYkuRui8MXzYCCkRXjezoRUCseV65fjJkgw5AhhHLuxLzyIuHgeW58BN3VTVUqOyPn1yHHDMPXpG3s8jzKHp0kqdgA542Zn68hJCDpOSstVLsIoR8iDYIc2O9+lnimJ5qWWKdVq7zB0TIfuyw0oGvvrgP2FoB/TYJVcluYDCIV3+2x1Z0JhfVy7FTktP9VdV+18QVdgu5gMJLAneQ9Auuh3d5DEgnN0XDoYeJhjhvgg036Po/5fPlVl2mf9KE54BsT/YPtireWgute+pc5Qv2q7F/Na6tXVpzu5l9ATrIIF34SJhKPrh3kukEOYhfQIHr/Kb38L+NP42/Y5+CehVFMv0eTTS/LzQ2vBn13ht13YnojQjSMRiDwlSHiAGHoeH4noCRFRJXEjcp41DX0D+AOu2i3gfw1IPfD9LEXPhxiinMeu5wQY7ctZZ9zMj8fATdX5oyE3OBZoG+fkJ3ON9pg1SMli8yL0MIvvPCZWlLIHqa7xwx5ke3tPcdN91pHPFtRhXbxlY+oKUjyBAju8V71TiZ0dcQAUme2y7re2z7eSAu+b7BxUY6O2f7hhnQ9qO2mvjH7MfgjuX6ba3OQrJAAA&quot;"/>
    <we:property name="bookmark" value="&quot;H4sIAAAAAAAAA+1Z32/bNhD+Vwo+GwNFSpSUt9btsIdt6Jqi2DAExlE6OWxoSaBot1qQ/32nH06T1GvadC4SW/aDwbsDeXf87juSvmS5aWoL7e+wQnbCXlTVxQrcxbOAzVg5yLSItSoQREg/mcAAEiRtVXtTlQ07uWQe3BL9O9OswXYTkfBvhiKJdaSLDEUoAVFJydnZjIG1r2HZ2RRgG5yxGl1TlWDNPzhMQSrv1ng1Y/ixtpWDbqFTDx67xTZkTmNyLPhJkh+QebPBU8z8KI2l4JgkHFQRpGkaKZ6QWTMY9P7uNOmm7pefV6UHU9IynUyINOYyicNUkmESCcmzTl4Y60cT3b76WDuKmTLR1l3KnucbKDPMWR+Cw2bw+JI9Xy4dLsGPw1e3lPPKrlc75KfV2mX4BoteVXrjW1qjoX3yixWSF4scPLArSthrV1E6e30OxraLjEJer/qtWtgK8t7q53U5Zot3w/Pqw9whpTfvBLP7o/jFoAOXnbe/4gbt5w5f6z9XbR18B84M+9oH911Bj9i9npLdyYNHb8iiM73hGXtJimefBJ16jIdUw/h2Zs5I0phyaUecfoLM2yFhF7XpCkO/J6x1yLjq5ih4DDzlIRLMwiATOlLB4QAomAC0bwAlEkShohilkrFOUwUqPRwAhROA9s5AOfUsnYcyT9NCKNShfhoMhNSEl+1CG2tx6lw/HDdRioojqCQRSaglxFw/jaPPiJtmXdfWTMj58cgRSmUhfRPJizgPeJZm+gCQMx129o6clKATZNSuCq1iunQWUXRAh50vUs+cRMvKmYxydXQY+o0u3ec7UDTV1wn7C8E9pMBqs6n8W9AWb9fZ9s2E3Hp/41XkTfWh6avq4BO6BdvZbCSBI4l7BNLZcLqDNNGcYyDoYiCxwBzxXqb9Ekf9v3xqq2yI+kGc8ASI/97yxcaZUXWnfCuXo3vR9hvz0rjt06eY3QnoEWahA9+M6ZSjCFVRaOSgckU/0cO7/P6PgN+Mv33fg78RSg3VEk0+P6d1vqoX/Nknft+JHYho5x8FExE9HiKqDe5EzpOmof8A/oirdg/4vwGkAfhhnqEMIYG44ImQQYTxsdx1psP8dA3clZ0/1rQMTgnaxz350TyjPaQHWVPubkL3s/jBY2JLKUcQ6g1+OIJor98prvrPncfSfwEB4UpSvCMAAA==&quot;"/>
    <we:property name="datasetId" value="&quot;f446d549-3925-458d-bf53-055a662ce2f6&quot;"/>
    <we:property name="embedUrl" value="&quot;/reportEmbed?reportId=883134ce-d612-4151-bec5-e145613396c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1783</TotalTime>
  <Words>425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Segoe UI Light</vt:lpstr>
      <vt:lpstr>Trebuchet MS</vt:lpstr>
      <vt:lpstr>Wingdings 3</vt:lpstr>
      <vt:lpstr>Facet</vt:lpstr>
      <vt:lpstr>Improving Energy Demand Forecasting for Better Procurement &amp; Grid Efficiency</vt:lpstr>
      <vt:lpstr>Deep Learning Approach: LSTM for Energy Load Forecasting</vt:lpstr>
      <vt:lpstr>Model Workflow</vt:lpstr>
      <vt:lpstr>Forecasting Results &amp; Key Insights</vt:lpstr>
      <vt:lpstr>Translating Forecast Accuracy into Operational Advantage</vt:lpstr>
      <vt:lpstr>Comprehensive Dashboard</vt:lpstr>
      <vt:lpstr>Next Steps: Operationalizing the Forecasting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Sahil Khan</cp:lastModifiedBy>
  <cp:revision>4</cp:revision>
  <dcterms:created xsi:type="dcterms:W3CDTF">2018-06-07T21:39:02Z</dcterms:created>
  <dcterms:modified xsi:type="dcterms:W3CDTF">2025-11-11T10:23:31Z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